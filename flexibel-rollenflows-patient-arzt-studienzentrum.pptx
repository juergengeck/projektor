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1" d="100"/>
          <a:sy n="121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47C2920D-65B9-4231-85AD-106652D90A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2AD2636-D0E3-4EE9-8435-EF92F6F1A03F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Rollenflows für Schulung und Abstimmung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98873BA-0A76-4DDD-9AFB-880654DA9E8C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Patient, Arzt und Studienzentrum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9C70F33-540D-4562-82E7-3E8AD2E57B93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Wie flexibel.one die Erfassung, klinische Prüfung und Studienkoordination über Rollen zusammenführt.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579B08B-93B3-4A2A-9AF0-D37C57892A59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49346C65-82A1-4887-B034-A889C1EE152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334000" cy="3276600"/>
          </a:xfrm>
          <a:prstGeom prst="roundRect">
            <a:avLst>
              <a:gd name="adj" fmla="val 5233"/>
            </a:avLst>
          </a:prstGeom>
          <a:solidFill>
            <a:srgbClr val="102124"/>
          </a:solidFill>
          <a:ln w="9525">
            <a:solidFill>
              <a:srgbClr val="1021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09668D7-C3CF-4240-BBDB-179EB7166C1D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Eine Plattform, drei Arbeitsrealitäten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23350F1-C0FF-4D42-A7FC-695568F952F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428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8E5E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5E2"/>
                </a:solidFill>
                <a:latin typeface="Aptos"/>
                <a:ea typeface="Aptos"/>
                <a:cs typeface="Aptos"/>
              </a:rPr>
              <a:t>Patienten erfassen eigene Verlaufsdaten. Ärztinnen und Ärzte prüfen klinische Signale. Das Studienzentrum steuert Rollen, Datenqualität und Export.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610463CA-1314-4236-AE6C-6E22365C4BC1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1600200" cy="323850"/>
          </a:xfrm>
          <a:prstGeom prst="roundRect">
            <a:avLst>
              <a:gd name="adj" fmla="val 50000"/>
            </a:avLst>
          </a:prstGeom>
          <a:solidFill>
            <a:srgbClr val="CFE9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619B544-D5BD-40C3-8A36-715A7CDFED2F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lokale Datenhaltung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1CDC6CAA-1F24-4473-868F-57C5F956FC12}"/>
              </a:ext>
            </a:extLst>
          </p:cNvPr>
          <p:cNvSpPr>
            <a:spLocks noGrp="1"/>
          </p:cNvSpPr>
          <p:nvPr/>
        </p:nvSpPr>
        <p:spPr>
          <a:xfrm>
            <a:off x="2686050" y="4114800"/>
            <a:ext cx="2266950" cy="323850"/>
          </a:xfrm>
          <a:prstGeom prst="roundRect">
            <a:avLst>
              <a:gd name="adj" fmla="val 50000"/>
            </a:avLst>
          </a:prstGeom>
          <a:solidFill>
            <a:srgbClr val="CFE9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DC643ED-331D-45D8-94B7-02D788B58B17}"/>
              </a:ext>
            </a:extLst>
          </p:cNvPr>
          <p:cNvSpPr>
            <a:spLocks noGrp="1"/>
          </p:cNvSpPr>
          <p:nvPr/>
        </p:nvSpPr>
        <p:spPr>
          <a:xfrm>
            <a:off x="2800350" y="41910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verschlüsselte Synchronisation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87FF568-0C4B-400E-85A3-DA97AE7E8197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CFE9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387E774-8801-4D56-AB40-CDAF35560302}"/>
              </a:ext>
            </a:extLst>
          </p:cNvPr>
          <p:cNvSpPr>
            <a:spLocks noGrp="1"/>
          </p:cNvSpPr>
          <p:nvPr/>
        </p:nvSpPr>
        <p:spPr>
          <a:xfrm>
            <a:off x="1047750" y="46291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FBB29C93-EB14-41E5-8058-671BC1FE959C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7987A6D-88DF-485B-AD18-709A8F61CB67}"/>
              </a:ext>
            </a:extLst>
          </p:cNvPr>
          <p:cNvSpPr>
            <a:spLocks noGrp="1"/>
          </p:cNvSpPr>
          <p:nvPr/>
        </p:nvSpPr>
        <p:spPr>
          <a:xfrm>
            <a:off x="6743700" y="2266950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9FA178B-E268-4864-AEB1-3FEC48F4C1E6}"/>
              </a:ext>
            </a:extLst>
          </p:cNvPr>
          <p:cNvSpPr>
            <a:spLocks noGrp="1"/>
          </p:cNvSpPr>
          <p:nvPr/>
        </p:nvSpPr>
        <p:spPr>
          <a:xfrm>
            <a:off x="6743700" y="26289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zentrale Rollenflows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70E1F4B-3CE4-4EC8-8431-0422DF35571B}"/>
              </a:ext>
            </a:extLst>
          </p:cNvPr>
          <p:cNvSpPr>
            <a:spLocks noGrp="1"/>
          </p:cNvSpPr>
          <p:nvPr/>
        </p:nvSpPr>
        <p:spPr>
          <a:xfrm>
            <a:off x="8572500" y="21145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AEB4119-E675-43D1-B91A-50C4DD21196B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8654415-4BC5-4ABC-9A19-7E8E2703632E}"/>
              </a:ext>
            </a:extLst>
          </p:cNvPr>
          <p:cNvSpPr>
            <a:spLocks noGrp="1"/>
          </p:cNvSpPr>
          <p:nvPr/>
        </p:nvSpPr>
        <p:spPr>
          <a:xfrm>
            <a:off x="8743950" y="26289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Demo-Screenshots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BBBAE96F-2829-4DFD-8092-CB122E864BE0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3714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60F058-D252-4A6E-8930-A8B10DF52FB2}"/>
              </a:ext>
            </a:extLst>
          </p:cNvPr>
          <p:cNvSpPr>
            <a:spLocks noGrp="1"/>
          </p:cNvSpPr>
          <p:nvPr/>
        </p:nvSpPr>
        <p:spPr>
          <a:xfrm>
            <a:off x="6743700" y="3486150"/>
            <a:ext cx="3371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93979AF-4B67-41BF-B418-91C3E4348968}"/>
              </a:ext>
            </a:extLst>
          </p:cNvPr>
          <p:cNvSpPr>
            <a:spLocks noGrp="1"/>
          </p:cNvSpPr>
          <p:nvPr/>
        </p:nvSpPr>
        <p:spPr>
          <a:xfrm>
            <a:off x="6743700" y="3848100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durchgängige Vertrauenskette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0418CBB-7708-49F0-A451-2274CE864174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Ziel des Decks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35A157B-DF26-4035-A2D2-C9E8B276B57D}"/>
              </a:ext>
            </a:extLst>
          </p:cNvPr>
          <p:cNvSpPr>
            <a:spLocks noGrp="1"/>
          </p:cNvSpPr>
          <p:nvPr/>
        </p:nvSpPr>
        <p:spPr>
          <a:xfrm>
            <a:off x="6572250" y="4991100"/>
            <a:ext cx="400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Gemeinsames Bild der operativen Abläufe: Was tut die Rolle, was passiert im System, und welcher Nutzen entsteht für Behandlung und Studie?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0DDFAD6-2F83-47CD-B721-36880E029F41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6ACB5E7-04DF-46C9-96C6-7A567116ADF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48896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>
            <a:extLst>
              <a:ext uri="{FF2B5EF4-FFF2-40B4-BE49-F238E27FC236}">
                <a16:creationId xmlns:a16="http://schemas.microsoft.com/office/drawing/2014/main" id="{02442E86-4277-4F11-B86F-360C8B0F5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DDCA806-63D5-47B6-84AF-47E34F874829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Gesamtfluss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226005-3E12-47AD-9D3D-36A60D6B68C4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Drei Rollen, ein gemeinsamer Verlauf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030ABBE-75B1-46EA-8EF3-0883844906BB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Rollen und Kontakte bestimmen, welche Daten sichtbar werden; die Daten bleiben lokal und werden autorisiert synchronisiert.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EDAA99C-24C1-4595-91A6-3D09BA7917D3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C392151D-C9A3-43A8-A56A-9D001052F39C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4765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138691BF-8313-4A0D-90EA-57A6F77757AE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24765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AD1237E4-9CA7-4C7C-BA9D-12B90E87490C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4765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86F4F7-19D4-4A73-9925-B745329F6067}"/>
              </a:ext>
            </a:extLst>
          </p:cNvPr>
          <p:cNvSpPr>
            <a:spLocks noGrp="1"/>
          </p:cNvSpPr>
          <p:nvPr/>
        </p:nvSpPr>
        <p:spPr>
          <a:xfrm>
            <a:off x="971550" y="28194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4181C1-B238-4A64-9431-53265041D5A3}"/>
              </a:ext>
            </a:extLst>
          </p:cNvPr>
          <p:cNvSpPr>
            <a:spLocks noGrp="1"/>
          </p:cNvSpPr>
          <p:nvPr/>
        </p:nvSpPr>
        <p:spPr>
          <a:xfrm>
            <a:off x="971550" y="3238500"/>
            <a:ext cx="1866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Selbsteinschätzung, Tagebuch, Temperatur, WBC, Kontakte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519578E-6DA4-4B02-AC99-9B1CB44492F4}"/>
              </a:ext>
            </a:extLst>
          </p:cNvPr>
          <p:cNvSpPr>
            <a:spLocks noGrp="1"/>
          </p:cNvSpPr>
          <p:nvPr/>
        </p:nvSpPr>
        <p:spPr>
          <a:xfrm>
            <a:off x="5143500" y="28194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Arzt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902C8F6-7008-4476-8551-D862AD347E96}"/>
              </a:ext>
            </a:extLst>
          </p:cNvPr>
          <p:cNvSpPr>
            <a:spLocks noGrp="1"/>
          </p:cNvSpPr>
          <p:nvPr/>
        </p:nvSpPr>
        <p:spPr>
          <a:xfrm>
            <a:off x="5143500" y="3238500"/>
            <a:ext cx="1866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Patientenübersicht, klinische Assessments, Verlauf, Export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DA55A80-A01D-4656-B878-7795B33FA359}"/>
              </a:ext>
            </a:extLst>
          </p:cNvPr>
          <p:cNvSpPr>
            <a:spLocks noGrp="1"/>
          </p:cNvSpPr>
          <p:nvPr/>
        </p:nvSpPr>
        <p:spPr>
          <a:xfrm>
            <a:off x="9315450" y="28194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Studienzentrum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0154592-F6F1-47CE-AE8D-CEA1D5D4A27B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866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Rollenvergabe, Import, Monitoring, Journal, Studienexport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375D1D4E-3540-4BF9-B985-2CA3E7BA80D5}"/>
              </a:ext>
            </a:extLst>
          </p:cNvPr>
          <p:cNvSpPr>
            <a:spLocks noGrp="1"/>
          </p:cNvSpPr>
          <p:nvPr/>
        </p:nvSpPr>
        <p:spPr>
          <a:xfrm>
            <a:off x="3333750" y="32766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34395EBC-60A8-4924-AD2A-B9E4D415F23A}"/>
              </a:ext>
            </a:extLst>
          </p:cNvPr>
          <p:cNvSpPr>
            <a:spLocks noGrp="1"/>
          </p:cNvSpPr>
          <p:nvPr/>
        </p:nvSpPr>
        <p:spPr>
          <a:xfrm>
            <a:off x="7524750" y="3276600"/>
            <a:ext cx="1314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694B061B-7173-4825-80F9-F5902754F536}"/>
              </a:ext>
            </a:extLst>
          </p:cNvPr>
          <p:cNvSpPr>
            <a:spLocks noGrp="1"/>
          </p:cNvSpPr>
          <p:nvPr/>
        </p:nvSpPr>
        <p:spPr>
          <a:xfrm>
            <a:off x="3390900" y="344805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6B4B9C-F76E-4D33-A2C1-9D899807D5FB}"/>
              </a:ext>
            </a:extLst>
          </p:cNvPr>
          <p:cNvSpPr>
            <a:spLocks noGrp="1"/>
          </p:cNvSpPr>
          <p:nvPr/>
        </p:nvSpPr>
        <p:spPr>
          <a:xfrm>
            <a:off x="3505200" y="352425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freigegebene Datenkanäle</a:t>
            </a: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4693815C-3708-44C2-87FC-796DBAC3BBF6}"/>
              </a:ext>
            </a:extLst>
          </p:cNvPr>
          <p:cNvSpPr>
            <a:spLocks noGrp="1"/>
          </p:cNvSpPr>
          <p:nvPr/>
        </p:nvSpPr>
        <p:spPr>
          <a:xfrm>
            <a:off x="7543800" y="34480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52BAEEF-A1C2-41CA-BADD-C0E49817C1D1}"/>
              </a:ext>
            </a:extLst>
          </p:cNvPr>
          <p:cNvSpPr>
            <a:spLocks noGrp="1"/>
          </p:cNvSpPr>
          <p:nvPr/>
        </p:nvSpPr>
        <p:spPr>
          <a:xfrm>
            <a:off x="7658100" y="35242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Vertrauenskette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CB669F11-14D2-468B-9137-28BB5445485C}"/>
              </a:ext>
            </a:extLst>
          </p:cNvPr>
          <p:cNvSpPr>
            <a:spLocks noGrp="1"/>
          </p:cNvSpPr>
          <p:nvPr/>
        </p:nvSpPr>
        <p:spPr>
          <a:xfrm>
            <a:off x="1476375" y="4762500"/>
            <a:ext cx="9239250" cy="895350"/>
          </a:xfrm>
          <a:prstGeom prst="roundRect">
            <a:avLst>
              <a:gd name="adj" fmla="val 17021"/>
            </a:avLst>
          </a:prstGeom>
          <a:solidFill>
            <a:srgbClr val="102124"/>
          </a:solidFill>
          <a:ln w="9525">
            <a:solidFill>
              <a:srgbClr val="1021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E627883-3821-43AD-ABCC-9D01A64CFCA9}"/>
              </a:ext>
            </a:extLst>
          </p:cNvPr>
          <p:cNvSpPr>
            <a:spLocks noGrp="1"/>
          </p:cNvSpPr>
          <p:nvPr/>
        </p:nvSpPr>
        <p:spPr>
          <a:xfrm>
            <a:off x="1790700" y="4991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E5E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E5E2"/>
                </a:solidFill>
                <a:latin typeface="Aptos"/>
                <a:ea typeface="Aptos"/>
                <a:cs typeface="Aptos"/>
              </a:rPr>
              <a:t>Systemprinzip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FEE8085-2A4C-467F-A5AE-CF03269D85EF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FF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FF7F5"/>
                </a:solidFill>
                <a:latin typeface="Aptos"/>
                <a:ea typeface="Aptos"/>
                <a:cs typeface="Aptos"/>
              </a:rPr>
              <a:t>Einladungen etablieren Kontakte. Rollen-Zertifikate steuern Rechte. Journal-Ereignisse machen Einladungen, Rollenzuweisungen, Einreichungen und Exporte nachvollziehbar.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89E02AD-4119-411E-9B81-AE39E4313290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1AF923F-55E4-4EA3-9F6A-0B6FF19A58B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40631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20804DF1-1351-4307-AB25-5C453C3DA8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C969D57-291A-44CE-A580-E868D98FBD61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Patientenfluss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0A6637-7D32-441B-95C4-5E73576749CF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Vom Einladungslink zur wöchentlichen Erfassung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026FF25-59D8-487D-A774-E3C86D95E113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Der Patientenflow ist bewusst auf wenige wiederholbare Schritte reduziert: Identität, Verbindung, Aufgaben, Einreichung.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BBBDA55-549A-4EF8-9F33-A06600BF0B15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C5A96C0-DE36-48B6-983D-D4E50284871B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2286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04D230D-EE1D-4348-94CC-087AB5ED1679}"/>
              </a:ext>
            </a:extLst>
          </p:cNvPr>
          <p:cNvSpPr>
            <a:spLocks noGrp="1"/>
          </p:cNvSpPr>
          <p:nvPr/>
        </p:nvSpPr>
        <p:spPr>
          <a:xfrm>
            <a:off x="819150" y="2409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4ED9195-DF04-44EB-B52F-2AB139E869B2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F71B8DA-428F-4427-A3E9-344338026B14}"/>
              </a:ext>
            </a:extLst>
          </p:cNvPr>
          <p:cNvSpPr>
            <a:spLocks noGrp="1"/>
          </p:cNvSpPr>
          <p:nvPr/>
        </p:nvSpPr>
        <p:spPr>
          <a:xfrm>
            <a:off x="1257300" y="24098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Identität einrichten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DCB163F-321F-4032-B361-7DEB82FCCAB2}"/>
              </a:ext>
            </a:extLst>
          </p:cNvPr>
          <p:cNvSpPr>
            <a:spLocks noGrp="1"/>
          </p:cNvSpPr>
          <p:nvPr/>
        </p:nvSpPr>
        <p:spPr>
          <a:xfrm>
            <a:off x="1257300" y="2695575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Lokales Konto erstellen oder wiederherstellen; Wiederherstellungshinweise sicher verwahren.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D200E1AF-9749-431D-88E9-F7705F668BA0}"/>
              </a:ext>
            </a:extLst>
          </p:cNvPr>
          <p:cNvSpPr>
            <a:spLocks noGrp="1"/>
          </p:cNvSpPr>
          <p:nvPr/>
        </p:nvSpPr>
        <p:spPr>
          <a:xfrm>
            <a:off x="3124200" y="276225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D8765A09-A291-4D7B-A952-B60D70994CF2}"/>
              </a:ext>
            </a:extLst>
          </p:cNvPr>
          <p:cNvSpPr>
            <a:spLocks noGrp="1"/>
          </p:cNvSpPr>
          <p:nvPr/>
        </p:nvSpPr>
        <p:spPr>
          <a:xfrm>
            <a:off x="3962400" y="2238375"/>
            <a:ext cx="2286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3D1B1C3D-6BD4-43DB-8C9C-B749E9336449}"/>
              </a:ext>
            </a:extLst>
          </p:cNvPr>
          <p:cNvSpPr>
            <a:spLocks noGrp="1"/>
          </p:cNvSpPr>
          <p:nvPr/>
        </p:nvSpPr>
        <p:spPr>
          <a:xfrm>
            <a:off x="4114800" y="2409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E083B0B-24E5-421C-9A7A-D2C6486DD132}"/>
              </a:ext>
            </a:extLst>
          </p:cNvPr>
          <p:cNvSpPr>
            <a:spLocks noGrp="1"/>
          </p:cNvSpPr>
          <p:nvPr/>
        </p:nvSpPr>
        <p:spPr>
          <a:xfrm>
            <a:off x="4114800" y="24765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EBAD8A7-65EE-4EEC-B589-E719AFAA53C4}"/>
              </a:ext>
            </a:extLst>
          </p:cNvPr>
          <p:cNvSpPr>
            <a:spLocks noGrp="1"/>
          </p:cNvSpPr>
          <p:nvPr/>
        </p:nvSpPr>
        <p:spPr>
          <a:xfrm>
            <a:off x="4552950" y="24098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Einladung annehmen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AA26F9D-8F1D-4E8C-9CEE-3048D10205EF}"/>
              </a:ext>
            </a:extLst>
          </p:cNvPr>
          <p:cNvSpPr>
            <a:spLocks noGrp="1"/>
          </p:cNvSpPr>
          <p:nvPr/>
        </p:nvSpPr>
        <p:spPr>
          <a:xfrm>
            <a:off x="4552950" y="2695575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QR-Code oder Link des Behandlungsteams öffnen und Verbindung bestätigen.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FF3F2535-9B3A-48D4-8F0A-5C97CBD9E38A}"/>
              </a:ext>
            </a:extLst>
          </p:cNvPr>
          <p:cNvSpPr>
            <a:spLocks noGrp="1"/>
          </p:cNvSpPr>
          <p:nvPr/>
        </p:nvSpPr>
        <p:spPr>
          <a:xfrm>
            <a:off x="6419850" y="276225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08E367F8-2C30-42C4-9CE4-4A48E2DB9484}"/>
              </a:ext>
            </a:extLst>
          </p:cNvPr>
          <p:cNvSpPr>
            <a:spLocks noGrp="1"/>
          </p:cNvSpPr>
          <p:nvPr/>
        </p:nvSpPr>
        <p:spPr>
          <a:xfrm>
            <a:off x="7258050" y="2238375"/>
            <a:ext cx="2286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E87784E7-F7C3-43D7-9A59-4B4B11D93FEA}"/>
              </a:ext>
            </a:extLst>
          </p:cNvPr>
          <p:cNvSpPr>
            <a:spLocks noGrp="1"/>
          </p:cNvSpPr>
          <p:nvPr/>
        </p:nvSpPr>
        <p:spPr>
          <a:xfrm>
            <a:off x="7410450" y="2409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9650C8A-93F4-4E79-B8D5-65B6A6798FF1}"/>
              </a:ext>
            </a:extLst>
          </p:cNvPr>
          <p:cNvSpPr>
            <a:spLocks noGrp="1"/>
          </p:cNvSpPr>
          <p:nvPr/>
        </p:nvSpPr>
        <p:spPr>
          <a:xfrm>
            <a:off x="7410450" y="24765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FE685BD-83CD-4975-B357-11B2BB2C752B}"/>
              </a:ext>
            </a:extLst>
          </p:cNvPr>
          <p:cNvSpPr>
            <a:spLocks noGrp="1"/>
          </p:cNvSpPr>
          <p:nvPr/>
        </p:nvSpPr>
        <p:spPr>
          <a:xfrm>
            <a:off x="7848600" y="24098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Aufgaben ausfüllen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24A065A-4262-4D13-B50D-C61B3845241E}"/>
              </a:ext>
            </a:extLst>
          </p:cNvPr>
          <p:cNvSpPr>
            <a:spLocks noGrp="1"/>
          </p:cNvSpPr>
          <p:nvPr/>
        </p:nvSpPr>
        <p:spPr>
          <a:xfrm>
            <a:off x="7848600" y="2695575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Wöchentliche Spastik-, Funktions- und Schmerzwerte sowie Fragebögen dokumentieren.</a:t>
            </a: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62968713-2FD9-44EC-9AE0-7D5EFF1E6C30}"/>
              </a:ext>
            </a:extLst>
          </p:cNvPr>
          <p:cNvSpPr>
            <a:spLocks noGrp="1"/>
          </p:cNvSpPr>
          <p:nvPr/>
        </p:nvSpPr>
        <p:spPr>
          <a:xfrm>
            <a:off x="9715500" y="276225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A5D78226-A893-480A-928A-A82D0DB212EF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2286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790F90C-7E73-4D0A-BA95-3585FB6456F9}"/>
              </a:ext>
            </a:extLst>
          </p:cNvPr>
          <p:cNvSpPr>
            <a:spLocks noGrp="1"/>
          </p:cNvSpPr>
          <p:nvPr/>
        </p:nvSpPr>
        <p:spPr>
          <a:xfrm>
            <a:off x="819150" y="3933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5F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859FC8F-4E08-41B5-BACE-3613BB2AF02C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39121B2-3FCD-4D4D-B89E-A27115E808D2}"/>
              </a:ext>
            </a:extLst>
          </p:cNvPr>
          <p:cNvSpPr>
            <a:spLocks noGrp="1"/>
          </p:cNvSpPr>
          <p:nvPr/>
        </p:nvSpPr>
        <p:spPr>
          <a:xfrm>
            <a:off x="1257300" y="39338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Daten teilen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A13E352-6429-457D-989E-409461F95A4E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Autorisierte Kontakte sehen freigegebene Verlaufsdaten und Journal-Einträge.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C4AD3DAC-DB38-4826-9CED-A09C5EF5E974}"/>
              </a:ext>
            </a:extLst>
          </p:cNvPr>
          <p:cNvSpPr>
            <a:spLocks noGrp="1"/>
          </p:cNvSpPr>
          <p:nvPr/>
        </p:nvSpPr>
        <p:spPr>
          <a:xfrm>
            <a:off x="3962400" y="3762375"/>
            <a:ext cx="558165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AEFEC13-34C8-4809-B40D-41CBF9BE26C2}"/>
              </a:ext>
            </a:extLst>
          </p:cNvPr>
          <p:cNvSpPr>
            <a:spLocks noGrp="1"/>
          </p:cNvSpPr>
          <p:nvPr/>
        </p:nvSpPr>
        <p:spPr>
          <a:xfrm>
            <a:off x="4248150" y="40005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Wichtig für Schulung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6AAD6F9-0344-490A-A45D-A25D62BBBA97}"/>
              </a:ext>
            </a:extLst>
          </p:cNvPr>
          <p:cNvSpPr>
            <a:spLocks noGrp="1"/>
          </p:cNvSpPr>
          <p:nvPr/>
        </p:nvSpPr>
        <p:spPr>
          <a:xfrm>
            <a:off x="4248150" y="4324350"/>
            <a:ext cx="476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flexibel.one ersetzt keine Notfallwege. Bei neuen starken Schmerzen, deutlicher Verschlechterung oder akuten Symptomen gelten die lokalen Kontakt- und Notfallregeln.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B1BBE24-A40F-4C1A-AE6B-08D9B9062DAE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7F0B984-0F0E-4676-858C-E56BA2F1335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91736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109986E9-AFAB-4689-B522-A14329A665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BACEF4C-C08A-41E5-86A2-C9287CCE7680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Patientenoberfläche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E8B8E3E-F9CB-4B69-82DB-9B40B9500669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Aufgabenliste und Selbsteinschätzung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2D8D936-A7C8-47CC-92F6-56EB8EEF2275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Screenshots zeigen die Patientensicht: Startseite mit offenen Aufgaben und strukturierte Erfassung der betroffenen Körperstellen.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8CDE7E5-B648-41E0-9750-1A8524EE1B5B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B312FDC-90EE-4A5B-8CD3-FDD5CAF80AA6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941" y="2000250"/>
            <a:ext cx="4950619" cy="2828925"/>
          </a:xfrm>
          <a:prstGeom prst="rect">
            <a:avLst/>
          </a:prstGeom>
        </p:spPr>
      </p:pic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1276419B-6981-495E-AF0D-5E6184742E99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3441" y="2000250"/>
            <a:ext cx="4950619" cy="2828925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F080800D-BEFB-4DD1-A2A1-7E9CF1773EF2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Was Patientinnen und Patienten tun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7356ACB-B46A-4964-B168-F670C4183D63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Offene Aufgabe öffnen, Symptome dokumentieren, Werte speichern und die Freigabe an das Behandlungsteam nutzen.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437F6EA-3AD2-4A9D-862C-2EFF6B9FEE66}"/>
              </a:ext>
            </a:extLst>
          </p:cNvPr>
          <p:cNvSpPr>
            <a:spLocks noGrp="1"/>
          </p:cNvSpPr>
          <p:nvPr/>
        </p:nvSpPr>
        <p:spPr>
          <a:xfrm>
            <a:off x="6724650" y="5219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Was das System beiträgt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CAA4083-2852-4F34-B899-58B94A0738A6}"/>
              </a:ext>
            </a:extLst>
          </p:cNvPr>
          <p:cNvSpPr>
            <a:spLocks noGrp="1"/>
          </p:cNvSpPr>
          <p:nvPr/>
        </p:nvSpPr>
        <p:spPr>
          <a:xfrm>
            <a:off x="67246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Die Erfassung wird strukturiert, zeitlich verortet und als Verlauf für Arzt und Studienzentrum nachvollziehbar.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63D74EE-2BA8-408D-9D17-6BCFA889B0E6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0ED8583-1A07-458A-8D00-1CBDE811EFA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11055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5E04CB85-C9AB-494B-A9F5-C33527D32C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7DCCF77-9946-4B0D-A5F2-56A4EC2B90DB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Arztfluss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D56638E-473D-47D9-9819-5E47C437B9EF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Vom Patientenüberblick zur Bewertung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ACAD302-56B1-473E-BD7D-A8FB410A4A29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Die ärztliche Sicht bündelt autorisierte Daten, damit Auffälligkeiten, Follow-up und Export ohne Medienbruch geprüft werden können.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26BE0ED-539A-4F47-B72E-4400D4F3BE9D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CAAE318-A65A-4D6E-BCE4-6FFAF98DFA36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B8A2836-616B-41D9-A893-6E29E1A67420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DD07970-133B-4144-AEBD-236EE886229F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F04D8BF-DE2D-4CDB-9B9D-A0FF847FB8D8}"/>
              </a:ext>
            </a:extLst>
          </p:cNvPr>
          <p:cNvSpPr>
            <a:spLocks noGrp="1"/>
          </p:cNvSpPr>
          <p:nvPr/>
        </p:nvSpPr>
        <p:spPr>
          <a:xfrm>
            <a:off x="12954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Rolle prüfen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7AF8C1-4519-4343-BDD8-E2B7CD3300FE}"/>
              </a:ext>
            </a:extLst>
          </p:cNvPr>
          <p:cNvSpPr>
            <a:spLocks noGrp="1"/>
          </p:cNvSpPr>
          <p:nvPr/>
        </p:nvSpPr>
        <p:spPr>
          <a:xfrm>
            <a:off x="12954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Doctor/Arzt aktiv, Studienzentrum verbunden, Patientenansicht sichtbar.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161D44AF-6AEA-42B4-B70B-25323A2452FC}"/>
              </a:ext>
            </a:extLst>
          </p:cNvPr>
          <p:cNvSpPr>
            <a:spLocks noGrp="1"/>
          </p:cNvSpPr>
          <p:nvPr/>
        </p:nvSpPr>
        <p:spPr>
          <a:xfrm>
            <a:off x="30670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B89A1C19-120C-4AE2-8BE4-A679792C618C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664D2B59-7704-42A1-945D-328D8C6AEFD9}"/>
              </a:ext>
            </a:extLst>
          </p:cNvPr>
          <p:cNvSpPr>
            <a:spLocks noGrp="1"/>
          </p:cNvSpPr>
          <p:nvPr/>
        </p:nvSpPr>
        <p:spPr>
          <a:xfrm>
            <a:off x="39433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932E9F5-6307-4A36-9E43-33153C010A68}"/>
              </a:ext>
            </a:extLst>
          </p:cNvPr>
          <p:cNvSpPr>
            <a:spLocks noGrp="1"/>
          </p:cNvSpPr>
          <p:nvPr/>
        </p:nvSpPr>
        <p:spPr>
          <a:xfrm>
            <a:off x="39433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A629AD1-88BD-4A9A-8463-5733BBEBAC67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 öffnen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E63A225-341D-4734-913C-39A4BC678A0B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Selbsteinschätzungen, Tagebuch, Temperatur, WBC und Studienstatus sichten.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8AA7248C-BF8D-4D4F-8A6B-B9F4AED966AC}"/>
              </a:ext>
            </a:extLst>
          </p:cNvPr>
          <p:cNvSpPr>
            <a:spLocks noGrp="1"/>
          </p:cNvSpPr>
          <p:nvPr/>
        </p:nvSpPr>
        <p:spPr>
          <a:xfrm>
            <a:off x="61531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D66DD507-E843-4E55-A87F-8B53C754E3C3}"/>
              </a:ext>
            </a:extLst>
          </p:cNvPr>
          <p:cNvSpPr>
            <a:spLocks noGrp="1"/>
          </p:cNvSpPr>
          <p:nvPr/>
        </p:nvSpPr>
        <p:spPr>
          <a:xfrm>
            <a:off x="68770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20696EE1-7C4A-4E8B-9562-11BDDEE312BF}"/>
              </a:ext>
            </a:extLst>
          </p:cNvPr>
          <p:cNvSpPr>
            <a:spLocks noGrp="1"/>
          </p:cNvSpPr>
          <p:nvPr/>
        </p:nvSpPr>
        <p:spPr>
          <a:xfrm>
            <a:off x="70294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135CD80-04BC-48B6-B72A-11062E317A88}"/>
              </a:ext>
            </a:extLst>
          </p:cNvPr>
          <p:cNvSpPr>
            <a:spLocks noGrp="1"/>
          </p:cNvSpPr>
          <p:nvPr/>
        </p:nvSpPr>
        <p:spPr>
          <a:xfrm>
            <a:off x="70294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083E25A-4631-4A87-B7CB-5E512AC65FC1}"/>
              </a:ext>
            </a:extLst>
          </p:cNvPr>
          <p:cNvSpPr>
            <a:spLocks noGrp="1"/>
          </p:cNvSpPr>
          <p:nvPr/>
        </p:nvSpPr>
        <p:spPr>
          <a:xfrm>
            <a:off x="74676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Assessment erfassen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215167C-6817-4D19-8030-536DB223AF4B}"/>
              </a:ext>
            </a:extLst>
          </p:cNvPr>
          <p:cNvSpPr>
            <a:spLocks noGrp="1"/>
          </p:cNvSpPr>
          <p:nvPr/>
        </p:nvSpPr>
        <p:spPr>
          <a:xfrm>
            <a:off x="74676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MAS-nahe Tonusbewertung, Parese und Schmerz pro Region dokumentieren.</a:t>
            </a: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BA8E4ADB-FA04-4D8F-8BF0-5A85362F1B91}"/>
              </a:ext>
            </a:extLst>
          </p:cNvPr>
          <p:cNvSpPr>
            <a:spLocks noGrp="1"/>
          </p:cNvSpPr>
          <p:nvPr/>
        </p:nvSpPr>
        <p:spPr>
          <a:xfrm>
            <a:off x="92392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0FEE1A54-76C1-46F6-907F-836E61E70592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40DC3B42-10D3-433D-BB99-2A62D389DD4A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5F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EA4699C-C901-4F30-BE65-A2C4314CB676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22A8B0A-2D9B-4F28-B5F6-C3DBCB0301A6}"/>
              </a:ext>
            </a:extLst>
          </p:cNvPr>
          <p:cNvSpPr>
            <a:spLocks noGrp="1"/>
          </p:cNvSpPr>
          <p:nvPr/>
        </p:nvSpPr>
        <p:spPr>
          <a:xfrm>
            <a:off x="1295400" y="3886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Verlauf bewerten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EC3EB2E-3BDB-4863-AF00-794753C56D75}"/>
              </a:ext>
            </a:extLst>
          </p:cNvPr>
          <p:cNvSpPr>
            <a:spLocks noGrp="1"/>
          </p:cNvSpPr>
          <p:nvPr/>
        </p:nvSpPr>
        <p:spPr>
          <a:xfrm>
            <a:off x="1295400" y="4171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Follow-up, Therapiebedarf oder Studienaktion nach lokaler SOP ableiten.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B47B3AE8-2ECF-4754-B15D-B6A1D88038F3}"/>
              </a:ext>
            </a:extLst>
          </p:cNvPr>
          <p:cNvSpPr>
            <a:spLocks noGrp="1"/>
          </p:cNvSpPr>
          <p:nvPr/>
        </p:nvSpPr>
        <p:spPr>
          <a:xfrm>
            <a:off x="3790950" y="3714750"/>
            <a:ext cx="527685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2DA3D15-0456-4083-BC11-23F86B73106E}"/>
              </a:ext>
            </a:extLst>
          </p:cNvPr>
          <p:cNvSpPr>
            <a:spLocks noGrp="1"/>
          </p:cNvSpPr>
          <p:nvPr/>
        </p:nvSpPr>
        <p:spPr>
          <a:xfrm>
            <a:off x="4076700" y="3981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Klinischer Fokus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A54E621-353D-4F0F-ACB9-A48E75349023}"/>
              </a:ext>
            </a:extLst>
          </p:cNvPr>
          <p:cNvSpPr>
            <a:spLocks noGrp="1"/>
          </p:cNvSpPr>
          <p:nvPr/>
        </p:nvSpPr>
        <p:spPr>
          <a:xfrm>
            <a:off x="4076700" y="4305300"/>
            <a:ext cx="4533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Besonders relevant sind erstmalige Tonuserhöhung, klare Verschlechterung zur Vorwoche, neue starke Schmerzen, fehlende Wochenwerte oder widersprüchliche Angaben.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F341779-075A-4AC1-9F5F-A074BF5DB5B2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B78E5A4-062E-44AC-96C8-046A6353E0E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8214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739EDDF7-8687-40C3-B83A-BF661B5838DF}"/>
              </a:ext>
            </a:extLst>
          </p:cNvPr>
          <p:cNvSpPr>
            <a:spLocks noGrp="1"/>
          </p:cNvSpPr>
          <p:nvPr/>
        </p:nvSpPr>
        <p:spPr>
          <a:xfrm>
            <a:off x="0" y="305457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890E85-76C9-4653-99FF-94EBD2D39C7E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Arztoberfläche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77053F9-1293-4FF6-B532-2B900E98211C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Priorisierung und Assessment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0A4FE06-F745-4468-A784-D6938A3318ED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Die Patientenauswahl führt direkt zur klinischen Bewertung und macht relevante Veränderungen sichtbar.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420CA42-CB59-441E-8C83-4068316EBD08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93CBD5C0-BBBF-40F3-AAD4-54964D3933C1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941" y="2000250"/>
            <a:ext cx="4950619" cy="2828925"/>
          </a:xfrm>
          <a:prstGeom prst="rect">
            <a:avLst/>
          </a:prstGeom>
        </p:spPr>
      </p:pic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F0ADE921-36FB-4149-8DB7-7A8184631478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3441" y="2000250"/>
            <a:ext cx="4950619" cy="2828925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91B22961-EC9C-4EF3-94CB-F2EE501CD157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Patientenübersicht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EF273A2-4780-494A-92D1-0796B42C219A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Risiko- und Aufgabenhinweise helfen, frische Patientendaten nicht in einer Liste zu verlieren.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B22277F-26D6-40FD-BF45-6AFE3666B098}"/>
              </a:ext>
            </a:extLst>
          </p:cNvPr>
          <p:cNvSpPr>
            <a:spLocks noGrp="1"/>
          </p:cNvSpPr>
          <p:nvPr/>
        </p:nvSpPr>
        <p:spPr>
          <a:xfrm>
            <a:off x="6724650" y="52197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Klinisches Assessment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FCFB4C7-7906-4F7B-AFF1-70286827D6D1}"/>
              </a:ext>
            </a:extLst>
          </p:cNvPr>
          <p:cNvSpPr>
            <a:spLocks noGrp="1"/>
          </p:cNvSpPr>
          <p:nvPr/>
        </p:nvSpPr>
        <p:spPr>
          <a:xfrm>
            <a:off x="67246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Regionen, Tonus, Parese und Schmerz werden strukturiert erfasst und als Verlauf nutzbar.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DEA0225-093D-4649-9334-AB6F7E6615ED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A741957-C11D-46B1-B4AC-16C6EF5BC06F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62754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E2B5FDDB-2903-47E3-83B6-B8544806DE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8DC35E3-DF4E-403B-8AC2-EF53BB603349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Studienzentrumsfluss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46FC816-7442-451A-9DCD-F0A9479F4B26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Rollen, Import und Datenqualität zusammenführen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C557FF-DE4A-4834-B3C6-581BC2088C3D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Hier entsteht die operative Ordnung: wer teilnehmen darf, welche Aufgaben offen sind und welche Datensätze exportbereit sind.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5CD7C63-A256-4C25-AAC6-421D0D4DA1AC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0E16437-6366-4653-8796-4C9715330161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279CAA19-3241-4E93-A394-CA5554117B5A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4C1C35-3AFB-4C7C-BAC9-329E936F5B80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DAD0E1-AC0D-4CE0-A346-4DA31556A1C2}"/>
              </a:ext>
            </a:extLst>
          </p:cNvPr>
          <p:cNvSpPr>
            <a:spLocks noGrp="1"/>
          </p:cNvSpPr>
          <p:nvPr/>
        </p:nvSpPr>
        <p:spPr>
          <a:xfrm>
            <a:off x="12954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Vertrauen aktivieren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FDA6500-3D69-48B2-84BB-0D27DC3F8586}"/>
              </a:ext>
            </a:extLst>
          </p:cNvPr>
          <p:cNvSpPr>
            <a:spLocks noGrp="1"/>
          </p:cNvSpPr>
          <p:nvPr/>
        </p:nvSpPr>
        <p:spPr>
          <a:xfrm>
            <a:off x="12954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StudyCenter-Rolle mit Admin-Vertrauensanker prüfen.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7EC888D-B29C-43F4-85D9-EB69B5F71075}"/>
              </a:ext>
            </a:extLst>
          </p:cNvPr>
          <p:cNvSpPr>
            <a:spLocks noGrp="1"/>
          </p:cNvSpPr>
          <p:nvPr/>
        </p:nvSpPr>
        <p:spPr>
          <a:xfrm>
            <a:off x="30670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4B4E0788-D88C-4C97-993B-E74DFB225E64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EE40B694-B589-4BD5-9888-EC04A17DC264}"/>
              </a:ext>
            </a:extLst>
          </p:cNvPr>
          <p:cNvSpPr>
            <a:spLocks noGrp="1"/>
          </p:cNvSpPr>
          <p:nvPr/>
        </p:nvSpPr>
        <p:spPr>
          <a:xfrm>
            <a:off x="39433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C9EF0E2-CF05-43C8-A18D-78D5E1824A3C}"/>
              </a:ext>
            </a:extLst>
          </p:cNvPr>
          <p:cNvSpPr>
            <a:spLocks noGrp="1"/>
          </p:cNvSpPr>
          <p:nvPr/>
        </p:nvSpPr>
        <p:spPr>
          <a:xfrm>
            <a:off x="39433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B809DF5-D652-41A4-BB3E-4AEF7124816F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Rollen vergeben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402A244-B080-451D-9938-C4947F0847B5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Ärzte, Therapeuten und Patienten per Link oder QR-Code einladen.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889BD7E7-8D79-49D3-98FB-6A4DC4FCCACB}"/>
              </a:ext>
            </a:extLst>
          </p:cNvPr>
          <p:cNvSpPr>
            <a:spLocks noGrp="1"/>
          </p:cNvSpPr>
          <p:nvPr/>
        </p:nvSpPr>
        <p:spPr>
          <a:xfrm>
            <a:off x="61531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2CA4AF1-B517-471E-908B-97592D9A2CA4}"/>
              </a:ext>
            </a:extLst>
          </p:cNvPr>
          <p:cNvSpPr>
            <a:spLocks noGrp="1"/>
          </p:cNvSpPr>
          <p:nvPr/>
        </p:nvSpPr>
        <p:spPr>
          <a:xfrm>
            <a:off x="6877050" y="2190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F16F0469-C706-4A83-9C20-E8DD0C1DBC57}"/>
              </a:ext>
            </a:extLst>
          </p:cNvPr>
          <p:cNvSpPr>
            <a:spLocks noGrp="1"/>
          </p:cNvSpPr>
          <p:nvPr/>
        </p:nvSpPr>
        <p:spPr>
          <a:xfrm>
            <a:off x="7029450" y="2362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C4D3185-D7F1-45E9-B99F-44F4219B9F12}"/>
              </a:ext>
            </a:extLst>
          </p:cNvPr>
          <p:cNvSpPr>
            <a:spLocks noGrp="1"/>
          </p:cNvSpPr>
          <p:nvPr/>
        </p:nvSpPr>
        <p:spPr>
          <a:xfrm>
            <a:off x="7029450" y="2428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937355-1E27-4421-BD7B-4C4F15101FDF}"/>
              </a:ext>
            </a:extLst>
          </p:cNvPr>
          <p:cNvSpPr>
            <a:spLocks noGrp="1"/>
          </p:cNvSpPr>
          <p:nvPr/>
        </p:nvSpPr>
        <p:spPr>
          <a:xfrm>
            <a:off x="7467600" y="2362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Patienten importieren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258D96D-A3E9-43D5-8873-20CE4A2F010C}"/>
              </a:ext>
            </a:extLst>
          </p:cNvPr>
          <p:cNvSpPr>
            <a:spLocks noGrp="1"/>
          </p:cNvSpPr>
          <p:nvPr/>
        </p:nvSpPr>
        <p:spPr>
          <a:xfrm>
            <a:off x="7467600" y="2647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Excel-Vorlage validieren, Dubletten prüfen, Einladungen vorbereiten.</a:t>
            </a: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94931381-76BE-461F-9BBF-8A5ECEF72D99}"/>
              </a:ext>
            </a:extLst>
          </p:cNvPr>
          <p:cNvSpPr>
            <a:spLocks noGrp="1"/>
          </p:cNvSpPr>
          <p:nvPr/>
        </p:nvSpPr>
        <p:spPr>
          <a:xfrm>
            <a:off x="9239250" y="2714625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5ED6A1E0-A532-4C44-BEA2-75A5214C1688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9B5E0EAA-E0A4-486F-AA6D-A0C138A45B4B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5F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097EFA0-0BF2-4594-8E63-6CD779E524D0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95B97BF-4C0C-41CB-A6EE-0283A31D17A9}"/>
              </a:ext>
            </a:extLst>
          </p:cNvPr>
          <p:cNvSpPr>
            <a:spLocks noGrp="1"/>
          </p:cNvSpPr>
          <p:nvPr/>
        </p:nvSpPr>
        <p:spPr>
          <a:xfrm>
            <a:off x="1295400" y="388620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Studie monitoren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59C54DF-60CE-41B6-B483-40CB9FF7E0BC}"/>
              </a:ext>
            </a:extLst>
          </p:cNvPr>
          <p:cNvSpPr>
            <a:spLocks noGrp="1"/>
          </p:cNvSpPr>
          <p:nvPr/>
        </p:nvSpPr>
        <p:spPr>
          <a:xfrm>
            <a:off x="1295400" y="4171950"/>
            <a:ext cx="1447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Fälligkeiten, Datenqualität, Journal und Exportstatus prüfen.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94E2ABE6-BBCA-44D2-AE53-9E8C42F4766A}"/>
              </a:ext>
            </a:extLst>
          </p:cNvPr>
          <p:cNvSpPr>
            <a:spLocks noGrp="1"/>
          </p:cNvSpPr>
          <p:nvPr/>
        </p:nvSpPr>
        <p:spPr>
          <a:xfrm>
            <a:off x="3790950" y="3714750"/>
            <a:ext cx="527685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7CB7CEF-2A87-4EA8-8CEC-67087205339E}"/>
              </a:ext>
            </a:extLst>
          </p:cNvPr>
          <p:cNvSpPr>
            <a:spLocks noGrp="1"/>
          </p:cNvSpPr>
          <p:nvPr/>
        </p:nvSpPr>
        <p:spPr>
          <a:xfrm>
            <a:off x="4076700" y="3981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Governance-Punkt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D7AF6DD-6AC9-4E9B-8404-245042D806B6}"/>
              </a:ext>
            </a:extLst>
          </p:cNvPr>
          <p:cNvSpPr>
            <a:spLocks noGrp="1"/>
          </p:cNvSpPr>
          <p:nvPr/>
        </p:nvSpPr>
        <p:spPr>
          <a:xfrm>
            <a:off x="4076700" y="4305300"/>
            <a:ext cx="4533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Rollenzuweisungen und Exporte sind besonders schützenswert. Sie werden im Journal nachvollziehbar und müssen lokalen SOPs, Einwilligung und Datenschutzfreigaben folgen.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F385C21-E658-44A7-9661-EEF20C4C1ADF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C6B598-DD5A-4256-B64F-9D5A7DD616F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20368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45BB86C0-432D-4AC8-8B52-A183DA0C2C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42DD979-EF84-4814-81AB-7698791AA2FE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Studienzentrumsoberfläche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5FC9421-7A28-4239-9EFC-2EDFDFEF6A40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Import und Monitoring im operativen Takt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98B090-BB84-4347-8242-EB43C814401D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Die Studienzentrumsansicht verbindet Patientenaufnahme, Rollenvergabe, Datenqualität und Exportbereitschaft.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08BED5-2708-4DEA-B15F-E467AD52798A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31BE0CF-3A66-478A-BFDD-DF49FF89E033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941" y="2000250"/>
            <a:ext cx="4950619" cy="2828925"/>
          </a:xfrm>
          <a:prstGeom prst="rect">
            <a:avLst/>
          </a:prstGeom>
        </p:spPr>
      </p:pic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9738392-7F13-48CC-B784-2091810DDF40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5143500" cy="3019425"/>
          </a:xfrm>
          <a:prstGeom prst="roundRect">
            <a:avLst>
              <a:gd name="adj" fmla="val 5678"/>
            </a:avLst>
          </a:prstGeom>
          <a:solidFill>
            <a:srgbClr val="E7EFEB"/>
          </a:solidFill>
          <a:ln w="9525">
            <a:solidFill>
              <a:srgbClr val="C9D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3441" y="2000250"/>
            <a:ext cx="4950619" cy="2828925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8F1BDC9D-0CCE-42F2-B87D-5D02933C2A40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Importkontrolle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0A46305-4AA9-4642-8412-114139D3082A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Vorlage, Pseudonym, Studienzuordnung und Einladungen werden vor der Aktivierung plausibilisiert.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A8B9381-8298-4AC8-81C2-7FD303A473A8}"/>
              </a:ext>
            </a:extLst>
          </p:cNvPr>
          <p:cNvSpPr>
            <a:spLocks noGrp="1"/>
          </p:cNvSpPr>
          <p:nvPr/>
        </p:nvSpPr>
        <p:spPr>
          <a:xfrm>
            <a:off x="6724650" y="5219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64B168E-3250-4A28-A2F0-7A9061BEE0C8}"/>
              </a:ext>
            </a:extLst>
          </p:cNvPr>
          <p:cNvSpPr>
            <a:spLocks noGrp="1"/>
          </p:cNvSpPr>
          <p:nvPr/>
        </p:nvSpPr>
        <p:spPr>
          <a:xfrm>
            <a:off x="6724650" y="550545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Fällige Wochenwerte, 3-Monats-Assessments, Journal und Exportstatus werden in einer Sicht geprüft.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AD4144E-EC09-42EA-91A9-A4DFEAFD5D4D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2A14665-DEF7-43CF-BF61-A9551EC01E4D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22965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5B70E6D8-03E4-4844-A546-2AD094DB88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4A1E6D6-0D6E-4723-A22C-3ED2C1BCDAF0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Vertrauen und Datenfreigabe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F6265FF-7DF8-4781-A225-CAF5AF08D4AA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Kontakt, Rolle und Freigabe prüfen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E14AF50-0BFF-42FC-B1D6-35B001570577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Das ist der wichtigste Erklärpunkt für Schulung, Support und Fehlersuche.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D885AD-9D0D-46F8-A977-8C75F4F53D52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9460E47-5C4C-4C4B-98A4-4366F232D518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9F11AE4-4CD1-424D-8D66-3AD51653E782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Kontakt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6FCFC9E-74DC-4257-B590-15B1E0013BF4}"/>
              </a:ext>
            </a:extLst>
          </p:cNvPr>
          <p:cNvSpPr>
            <a:spLocks noGrp="1"/>
          </p:cNvSpPr>
          <p:nvPr/>
        </p:nvSpPr>
        <p:spPr>
          <a:xfrm>
            <a:off x="1143000" y="300990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Einladung per Link oder QR-Code etabliert die Verbindung zwischen Geräten.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C3F44365-02A5-4B55-89BD-E31125B3F651}"/>
              </a:ext>
            </a:extLst>
          </p:cNvPr>
          <p:cNvSpPr>
            <a:spLocks noGrp="1"/>
          </p:cNvSpPr>
          <p:nvPr/>
        </p:nvSpPr>
        <p:spPr>
          <a:xfrm>
            <a:off x="4876800" y="2266950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6EC3698-1131-482C-9E60-9AFB0E215C9A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Rolle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2EB4ED-ECF0-4447-AF69-C1E016F77D2B}"/>
              </a:ext>
            </a:extLst>
          </p:cNvPr>
          <p:cNvSpPr>
            <a:spLocks noGrp="1"/>
          </p:cNvSpPr>
          <p:nvPr/>
        </p:nvSpPr>
        <p:spPr>
          <a:xfrm>
            <a:off x="5181600" y="300990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Zertifikat legt fest, ob Patient, Doctor, Therapist oder StudyCenter aktiv ist.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16C4C9C7-13A3-4987-A9EC-F6D34C709678}"/>
              </a:ext>
            </a:extLst>
          </p:cNvPr>
          <p:cNvSpPr>
            <a:spLocks noGrp="1"/>
          </p:cNvSpPr>
          <p:nvPr/>
        </p:nvSpPr>
        <p:spPr>
          <a:xfrm>
            <a:off x="8915400" y="2266950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3CA51BC-3A41-4636-A3C6-3B517CD1472A}"/>
              </a:ext>
            </a:extLst>
          </p:cNvPr>
          <p:cNvSpPr>
            <a:spLocks noGrp="1"/>
          </p:cNvSpPr>
          <p:nvPr/>
        </p:nvSpPr>
        <p:spPr>
          <a:xfrm>
            <a:off x="9220200" y="25717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Freigabe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EE8490F-436C-4F12-B390-96078CE74E0E}"/>
              </a:ext>
            </a:extLst>
          </p:cNvPr>
          <p:cNvSpPr>
            <a:spLocks noGrp="1"/>
          </p:cNvSpPr>
          <p:nvPr/>
        </p:nvSpPr>
        <p:spPr>
          <a:xfrm>
            <a:off x="9220200" y="300990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Datenkanäle bestimmen, welche Verlaufsdaten bei wem sichtbar werden.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39D9520B-046D-468D-80BF-934EA1F408B2}"/>
              </a:ext>
            </a:extLst>
          </p:cNvPr>
          <p:cNvSpPr>
            <a:spLocks noGrp="1"/>
          </p:cNvSpPr>
          <p:nvPr/>
        </p:nvSpPr>
        <p:spPr>
          <a:xfrm>
            <a:off x="3429000" y="31051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9D4206E-F77A-4493-9545-F8363947941E}"/>
              </a:ext>
            </a:extLst>
          </p:cNvPr>
          <p:cNvSpPr>
            <a:spLocks noGrp="1"/>
          </p:cNvSpPr>
          <p:nvPr/>
        </p:nvSpPr>
        <p:spPr>
          <a:xfrm>
            <a:off x="7467600" y="31051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F9D7CC0A-6886-4B2A-B81B-0AB3D36A5C91}"/>
              </a:ext>
            </a:extLst>
          </p:cNvPr>
          <p:cNvSpPr>
            <a:spLocks noGrp="1"/>
          </p:cNvSpPr>
          <p:nvPr/>
        </p:nvSpPr>
        <p:spPr>
          <a:xfrm>
            <a:off x="5391150" y="44005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95F6B08-A44E-4EB9-A144-25B2D90AB680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alle drei prüfen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959EBC0-C745-4AE8-9AF5-7F6E536EB795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DCC9BEC-6212-45BD-8CC2-270EBFB1612D}"/>
              </a:ext>
            </a:extLst>
          </p:cNvPr>
          <p:cNvSpPr>
            <a:spLocks noGrp="1"/>
          </p:cNvSpPr>
          <p:nvPr/>
        </p:nvSpPr>
        <p:spPr>
          <a:xfrm>
            <a:off x="1162050" y="51054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 fehlt in der Liste: Einladung, Rolle Patient und direkte/freigegebene Verbindung prüfen.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2F8DC8F-13C9-4755-9FEF-8D557B4CCDCE}"/>
              </a:ext>
            </a:extLst>
          </p:cNvPr>
          <p:cNvSpPr>
            <a:spLocks noGrp="1"/>
          </p:cNvSpPr>
          <p:nvPr/>
        </p:nvSpPr>
        <p:spPr>
          <a:xfrm>
            <a:off x="990600" y="56292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AF63A52-F75A-46DB-99B0-7015D3163322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Daten sind leer: Synchronisation, Datenkanäle, Identität und Rollenrechte prüfen.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0C3C710-0DE0-46A9-89C1-E1F92851B97E}"/>
              </a:ext>
            </a:extLst>
          </p:cNvPr>
          <p:cNvSpPr>
            <a:spLocks noGrp="1"/>
          </p:cNvSpPr>
          <p:nvPr/>
        </p:nvSpPr>
        <p:spPr>
          <a:xfrm>
            <a:off x="6572250" y="51720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D801D97-E6BA-4B40-925A-343B938B1096}"/>
              </a:ext>
            </a:extLst>
          </p:cNvPr>
          <p:cNvSpPr>
            <a:spLocks noGrp="1"/>
          </p:cNvSpPr>
          <p:nvPr/>
        </p:nvSpPr>
        <p:spPr>
          <a:xfrm>
            <a:off x="6743700" y="5105400"/>
            <a:ext cx="421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Export unvollständig: Zeitraum, Datentypen, Einwilligung und Studienfilter prüfen.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22C691E-E667-427D-A575-AA11C20ACBC3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D938961-4844-4014-8359-AD506E53898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60348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>
            <a:extLst>
              <a:ext uri="{FF2B5EF4-FFF2-40B4-BE49-F238E27FC236}">
                <a16:creationId xmlns:a16="http://schemas.microsoft.com/office/drawing/2014/main" id="{A992DB68-8B5F-44E1-8D20-366A915E80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827814-FAA1-4642-9EC2-C3AEA5A31A5D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5F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F66"/>
                </a:solidFill>
                <a:latin typeface="Aptos"/>
                <a:ea typeface="Aptos"/>
                <a:cs typeface="Aptos"/>
              </a:rPr>
              <a:t>Kurzfazit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26AECC1-9841-4224-8CB4-10D31FE4EBC2}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Drei Flows, ein gemeinsamer Betriebsablauf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0F85F60-FD44-462B-B5E2-AADE1CFDEB63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Für Rollout und Support lohnt sich eine klare Trennung: Was macht die Person, was macht flexibel.one, was regelt die SOP?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B8BA777-E3E4-4CB4-ADD1-24880A9896C2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flexibel.one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3CC91665-1CED-4264-A1CC-EA8A55F41A42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3238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D01B67E-C664-465E-947F-0D225FEB1677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E580BD7-24C9-4EE0-86A2-B2F52079C1F9}"/>
              </a:ext>
            </a:extLst>
          </p:cNvPr>
          <p:cNvSpPr>
            <a:spLocks noGrp="1"/>
          </p:cNvSpPr>
          <p:nvPr/>
        </p:nvSpPr>
        <p:spPr>
          <a:xfrm>
            <a:off x="1047750" y="30765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5B3026-A549-46E6-A2A8-1D827D43DC0E}"/>
              </a:ext>
            </a:extLst>
          </p:cNvPr>
          <p:cNvSpPr>
            <a:spLocks noGrp="1"/>
          </p:cNvSpPr>
          <p:nvPr/>
        </p:nvSpPr>
        <p:spPr>
          <a:xfrm>
            <a:off x="1219200" y="30099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Einladung angenommen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B69EC28-866E-47B6-8233-4BACFC4DF24B}"/>
              </a:ext>
            </a:extLst>
          </p:cNvPr>
          <p:cNvSpPr>
            <a:spLocks noGrp="1"/>
          </p:cNvSpPr>
          <p:nvPr/>
        </p:nvSpPr>
        <p:spPr>
          <a:xfrm>
            <a:off x="1047750" y="35337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607F3FA-3C9F-49BF-9E3E-61566DBDE9D8}"/>
              </a:ext>
            </a:extLst>
          </p:cNvPr>
          <p:cNvSpPr>
            <a:spLocks noGrp="1"/>
          </p:cNvSpPr>
          <p:nvPr/>
        </p:nvSpPr>
        <p:spPr>
          <a:xfrm>
            <a:off x="1219200" y="34671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Wöchentliche Werte erfasst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F6523BA-AB13-46EF-B195-1A54C6A8888D}"/>
              </a:ext>
            </a:extLst>
          </p:cNvPr>
          <p:cNvSpPr>
            <a:spLocks noGrp="1"/>
          </p:cNvSpPr>
          <p:nvPr/>
        </p:nvSpPr>
        <p:spPr>
          <a:xfrm>
            <a:off x="1047750" y="39909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E575F6D-0763-488B-9039-BDB2B467083C}"/>
              </a:ext>
            </a:extLst>
          </p:cNvPr>
          <p:cNvSpPr>
            <a:spLocks noGrp="1"/>
          </p:cNvSpPr>
          <p:nvPr/>
        </p:nvSpPr>
        <p:spPr>
          <a:xfrm>
            <a:off x="1219200" y="39243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Kontakte und Freigabe verstanden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E055A2E3-337F-4889-AF97-5A75FC3EBDBB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238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619BD6-1AF0-4BF3-BC62-D39ACC926BA2}"/>
              </a:ext>
            </a:extLst>
          </p:cNvPr>
          <p:cNvSpPr>
            <a:spLocks noGrp="1"/>
          </p:cNvSpPr>
          <p:nvPr/>
        </p:nvSpPr>
        <p:spPr>
          <a:xfrm>
            <a:off x="4781550" y="24955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Arzt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A3387F8-12C8-40CD-A53F-728F131D5A18}"/>
              </a:ext>
            </a:extLst>
          </p:cNvPr>
          <p:cNvSpPr>
            <a:spLocks noGrp="1"/>
          </p:cNvSpPr>
          <p:nvPr/>
        </p:nvSpPr>
        <p:spPr>
          <a:xfrm>
            <a:off x="4800600" y="30765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38CD69E-33AA-453C-B267-DBF8183C0431}"/>
              </a:ext>
            </a:extLst>
          </p:cNvPr>
          <p:cNvSpPr>
            <a:spLocks noGrp="1"/>
          </p:cNvSpPr>
          <p:nvPr/>
        </p:nvSpPr>
        <p:spPr>
          <a:xfrm>
            <a:off x="4972050" y="30099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Patientenliste priorisiert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8B6E46-08EE-44AF-B89E-556B94D8F06D}"/>
              </a:ext>
            </a:extLst>
          </p:cNvPr>
          <p:cNvSpPr>
            <a:spLocks noGrp="1"/>
          </p:cNvSpPr>
          <p:nvPr/>
        </p:nvSpPr>
        <p:spPr>
          <a:xfrm>
            <a:off x="4800600" y="35337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1DD3C45-4635-401A-A760-E1E348621E9D}"/>
              </a:ext>
            </a:extLst>
          </p:cNvPr>
          <p:cNvSpPr>
            <a:spLocks noGrp="1"/>
          </p:cNvSpPr>
          <p:nvPr/>
        </p:nvSpPr>
        <p:spPr>
          <a:xfrm>
            <a:off x="4972050" y="34671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Assessment dokumentiert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2876C8B-0B91-4287-BBD3-EA2F1C1BEA67}"/>
              </a:ext>
            </a:extLst>
          </p:cNvPr>
          <p:cNvSpPr>
            <a:spLocks noGrp="1"/>
          </p:cNvSpPr>
          <p:nvPr/>
        </p:nvSpPr>
        <p:spPr>
          <a:xfrm>
            <a:off x="4800600" y="39909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9660634-3C57-4FF5-9144-4A6A9AFC5AE8}"/>
              </a:ext>
            </a:extLst>
          </p:cNvPr>
          <p:cNvSpPr>
            <a:spLocks noGrp="1"/>
          </p:cNvSpPr>
          <p:nvPr/>
        </p:nvSpPr>
        <p:spPr>
          <a:xfrm>
            <a:off x="4972050" y="39243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Follow-up nach SOP abgeleitet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257AB05E-8C98-4BA6-A07E-A1B6AF54AD78}"/>
              </a:ext>
            </a:extLst>
          </p:cNvPr>
          <p:cNvSpPr>
            <a:spLocks noGrp="1"/>
          </p:cNvSpPr>
          <p:nvPr/>
        </p:nvSpPr>
        <p:spPr>
          <a:xfrm>
            <a:off x="8229600" y="2190750"/>
            <a:ext cx="3238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B5F2B08-421F-484F-BB61-834C839A7613}"/>
              </a:ext>
            </a:extLst>
          </p:cNvPr>
          <p:cNvSpPr>
            <a:spLocks noGrp="1"/>
          </p:cNvSpPr>
          <p:nvPr/>
        </p:nvSpPr>
        <p:spPr>
          <a:xfrm>
            <a:off x="8534400" y="24955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Studienzentrum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FB4808F-20FA-4FFE-8BE5-B6889A6E546A}"/>
              </a:ext>
            </a:extLst>
          </p:cNvPr>
          <p:cNvSpPr>
            <a:spLocks noGrp="1"/>
          </p:cNvSpPr>
          <p:nvPr/>
        </p:nvSpPr>
        <p:spPr>
          <a:xfrm>
            <a:off x="8553450" y="30765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C3BB544-0318-4A1F-88A3-FE2752758BD7}"/>
              </a:ext>
            </a:extLst>
          </p:cNvPr>
          <p:cNvSpPr>
            <a:spLocks noGrp="1"/>
          </p:cNvSpPr>
          <p:nvPr/>
        </p:nvSpPr>
        <p:spPr>
          <a:xfrm>
            <a:off x="8724900" y="30099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Rollen und Import kontrolliert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D044F75-AC53-4448-8B08-114E4CEB2A97}"/>
              </a:ext>
            </a:extLst>
          </p:cNvPr>
          <p:cNvSpPr>
            <a:spLocks noGrp="1"/>
          </p:cNvSpPr>
          <p:nvPr/>
        </p:nvSpPr>
        <p:spPr>
          <a:xfrm>
            <a:off x="8553450" y="35337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EB66A5D-4FB7-47F6-BC94-D0CB663D3CFA}"/>
              </a:ext>
            </a:extLst>
          </p:cNvPr>
          <p:cNvSpPr>
            <a:spLocks noGrp="1"/>
          </p:cNvSpPr>
          <p:nvPr/>
        </p:nvSpPr>
        <p:spPr>
          <a:xfrm>
            <a:off x="8724900" y="34671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Datenqualität überwacht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4636D59-653D-4BCB-8D03-04D9C11F3771}"/>
              </a:ext>
            </a:extLst>
          </p:cNvPr>
          <p:cNvSpPr>
            <a:spLocks noGrp="1"/>
          </p:cNvSpPr>
          <p:nvPr/>
        </p:nvSpPr>
        <p:spPr>
          <a:xfrm>
            <a:off x="8553450" y="3990975"/>
            <a:ext cx="76200" cy="76200"/>
          </a:xfrm>
          <a:prstGeom prst="rect">
            <a:avLst/>
          </a:prstGeom>
          <a:solidFill>
            <a:srgbClr val="2F8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0F0D706-AD4D-4321-BD87-60359C887753}"/>
              </a:ext>
            </a:extLst>
          </p:cNvPr>
          <p:cNvSpPr>
            <a:spLocks noGrp="1"/>
          </p:cNvSpPr>
          <p:nvPr/>
        </p:nvSpPr>
        <p:spPr>
          <a:xfrm>
            <a:off x="8724900" y="39243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24"/>
                </a:solidFill>
                <a:latin typeface="Aptos"/>
                <a:ea typeface="Aptos"/>
                <a:cs typeface="Aptos"/>
              </a:rPr>
              <a:t>Export freigegeben und protokolliert</a:t>
            </a:r>
          </a:p>
        </p:txBody>
      </p:sp>
      <p:sp>
        <p:nvSpPr>
          <p:cNvPr id="30" name="Abgerundetes Rechteck 29">
            <a:extLst>
              <a:ext uri="{FF2B5EF4-FFF2-40B4-BE49-F238E27FC236}">
                <a16:creationId xmlns:a16="http://schemas.microsoft.com/office/drawing/2014/main" id="{2B616885-95E6-4802-B053-A49A0307C5DB}"/>
              </a:ext>
            </a:extLst>
          </p:cNvPr>
          <p:cNvSpPr>
            <a:spLocks noGrp="1"/>
          </p:cNvSpPr>
          <p:nvPr/>
        </p:nvSpPr>
        <p:spPr>
          <a:xfrm>
            <a:off x="2133600" y="5410200"/>
            <a:ext cx="7924800" cy="666750"/>
          </a:xfrm>
          <a:prstGeom prst="roundRect">
            <a:avLst>
              <a:gd name="adj" fmla="val 20000"/>
            </a:avLst>
          </a:prstGeom>
          <a:solidFill>
            <a:srgbClr val="102124"/>
          </a:solidFill>
          <a:ln w="9525">
            <a:solidFill>
              <a:srgbClr val="1021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5B31357-306C-4465-9A9C-1E7E0601172D}"/>
              </a:ext>
            </a:extLst>
          </p:cNvPr>
          <p:cNvSpPr>
            <a:spLocks noGrp="1"/>
          </p:cNvSpPr>
          <p:nvPr/>
        </p:nvSpPr>
        <p:spPr>
          <a:xfrm>
            <a:off x="2400300" y="557771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FF7F5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Gemeinsamer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Nenner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: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Rollenrechte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synchronisierte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Verlaufsdaten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und Journal-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Ereignisse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müssen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bei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jeder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Schulung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sichtbar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erklärt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EFF7F5"/>
                </a:solidFill>
                <a:latin typeface="Aptos"/>
                <a:ea typeface="Aptos"/>
                <a:cs typeface="Aptos"/>
              </a:rPr>
              <a:t>werden</a:t>
            </a:r>
            <a:r>
              <a:rPr sz="1200" b="1" dirty="0">
                <a:solidFill>
                  <a:srgbClr val="EFF7F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EE00426-94CF-4FAD-8A74-4A8737217D24}"/>
              </a:ext>
            </a:extLst>
          </p:cNvPr>
          <p:cNvSpPr>
            <a:spLocks noGrp="1"/>
          </p:cNvSpPr>
          <p:nvPr/>
        </p:nvSpPr>
        <p:spPr>
          <a:xfrm>
            <a:off x="590550" y="6438900"/>
            <a:ext cx="11010900" cy="9525"/>
          </a:xfrm>
          <a:prstGeom prst="rect">
            <a:avLst/>
          </a:prstGeom>
          <a:solidFill>
            <a:srgbClr val="DCE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4E75DB-39AA-48B7-9222-41E267C436D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28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3716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16D"/>
                </a:solidFill>
                <a:latin typeface="Aptos"/>
                <a:ea typeface="Aptos"/>
                <a:cs typeface="Aptos"/>
              </a:rPr>
              <a:t>Quellen: flexibel.one Handbücher Patient, Arzt und Studienzentrum (Entwurf, 19.04.2026). Screenshots: Demo-Ansichten für Flow-Erklärung.</a:t>
            </a:r>
          </a:p>
        </p:txBody>
      </p:sp>
    </p:spTree>
    <p:extLst>
      <p:ext uri="{BB962C8B-B14F-4D97-AF65-F5344CB8AC3E}">
        <p14:creationId xmlns:p14="http://schemas.microsoft.com/office/powerpoint/2010/main" val="15768503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Microsoft Macintosh PowerPoint</Application>
  <DocSecurity>0</DocSecurity>
  <PresentationFormat>Breitbild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juergen geck</cp:lastModifiedBy>
  <cp:revision>1</cp:revision>
  <dcterms:created xsi:type="dcterms:W3CDTF">2026-05-21T13:16:33Z</dcterms:created>
  <dcterms:modified xsi:type="dcterms:W3CDTF">2026-05-21T17:32:47Z</dcterms:modified>
</cp:coreProperties>
</file>